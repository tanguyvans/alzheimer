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Problème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 = 60-70% des démences (57M cas)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invasif (PET, ponction lombaire)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 + données cliniques = alternative non-invasive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Biais dans la littérature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&lt;20% des études valident sur un dataset externe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sujet dans train &amp; test (data leakage) → les modèles reconnaissent le 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pas la maladie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4747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6 065 sujets, 3 cohortes (ADNI, OASIS, NACC)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× 3 seeds, split strict par sujet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1828800" cy="274320"/>
          </a:xfrm>
          <a:prstGeom prst="round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777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IRM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IRM 128³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16³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12 blocs (MAE)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05740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768-d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777240"/>
            <a:ext cx="1828800" cy="274320"/>
          </a:xfrm>
          <a:prstGeom prst="roundRect">
            <a:avLst/>
          </a:prstGeom>
          <a:solidFill>
            <a:srgbClr val="3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777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Tabulaire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109728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E6F4EA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features cliniques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0" y="141732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E6F4EA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Embed 64-d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173736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E6F4EA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FT-Transformer 3 blocs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205740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E6F4EA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64-d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94960" y="2468880"/>
            <a:ext cx="2743200" cy="320040"/>
          </a:xfrm>
          <a:prstGeom prst="roundRect">
            <a:avLst>
              <a:gd name="adj" fmla="val 14286"/>
            </a:avLst>
          </a:prstGeom>
          <a:solidFill>
            <a:srgbClr val="FBBC05"/>
          </a:solidFill>
          <a:ln/>
        </p:spPr>
      </p:sp>
      <p:sp>
        <p:nvSpPr>
          <p:cNvPr id="31" name="Text 29"/>
          <p:cNvSpPr/>
          <p:nvPr/>
        </p:nvSpPr>
        <p:spPr>
          <a:xfrm>
            <a:off x="539496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bidirectionnelle (8 heads)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52160" y="288036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EA4335"/>
          </a:solidFill>
          <a:ln/>
        </p:spPr>
      </p:sp>
      <p:sp>
        <p:nvSpPr>
          <p:cNvPr id="33" name="Text 31"/>
          <p:cNvSpPr/>
          <p:nvPr/>
        </p:nvSpPr>
        <p:spPr>
          <a:xfrm>
            <a:off x="58521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/ AD-trajectoire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1371600"/>
            <a:ext cx="0" cy="45720"/>
          </a:xfrm>
          <a:prstGeom prst="line">
            <a:avLst/>
          </a:prstGeom>
          <a:noFill/>
          <a:ln w="19050">
            <a:solidFill>
              <a:srgbClr val="4285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1691640"/>
            <a:ext cx="0" cy="45720"/>
          </a:xfrm>
          <a:prstGeom prst="line">
            <a:avLst/>
          </a:prstGeom>
          <a:noFill/>
          <a:ln w="19050">
            <a:solidFill>
              <a:srgbClr val="4285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2011680"/>
            <a:ext cx="0" cy="45720"/>
          </a:xfrm>
          <a:prstGeom prst="line">
            <a:avLst/>
          </a:prstGeom>
          <a:noFill/>
          <a:ln w="19050">
            <a:solidFill>
              <a:srgbClr val="4285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0" y="1371600"/>
            <a:ext cx="0" cy="45720"/>
          </a:xfrm>
          <a:prstGeom prst="line">
            <a:avLst/>
          </a:prstGeom>
          <a:noFill/>
          <a:ln w="19050">
            <a:solidFill>
              <a:srgbClr val="34A85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1691640"/>
            <a:ext cx="0" cy="45720"/>
          </a:xfrm>
          <a:prstGeom prst="line">
            <a:avLst/>
          </a:prstGeom>
          <a:noFill/>
          <a:ln w="19050">
            <a:solidFill>
              <a:srgbClr val="34A85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2011680"/>
            <a:ext cx="0" cy="45720"/>
          </a:xfrm>
          <a:prstGeom prst="line">
            <a:avLst/>
          </a:prstGeom>
          <a:noFill/>
          <a:ln w="19050">
            <a:solidFill>
              <a:srgbClr val="34A8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337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prétraitement IRM</a:t>
            </a:r>
            <a:endParaRPr lang="en-US" sz="1100" dirty="0"/>
          </a:p>
        </p:txBody>
      </p:sp>
      <p:pic>
        <p:nvPicPr>
          <p:cNvPr id="41" name="Image 0" descr="/Users/tanguyvans/Desktop/umons/alzheimer/paper/figures/preprocessing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3611880"/>
            <a:ext cx="3931920" cy="100584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Vansnick et al. — ILIA, Université de Mons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&amp; Explicabilité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Transformers (ViT + FT-Transformer)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4389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40080"/>
                <a:gridCol w="640080"/>
                <a:gridCol w="640080"/>
                <a:gridCol w="6400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Spéc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IRM seule (ViT)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Tabulaire (FT-T)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ViT+FT-T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1764792"/>
            <a:ext cx="4389120" cy="256032"/>
          </a:xfrm>
          <a:prstGeom prst="rect">
            <a:avLst/>
          </a:prstGeom>
          <a:solidFill>
            <a:srgbClr val="FBBC05">
              <a:alpha val="2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3D (ResNet3D)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23160"/>
          <a:ext cx="4389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40080"/>
                <a:gridCol w="640080"/>
                <a:gridCol w="640080"/>
                <a:gridCol w="6400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Spéc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ResNet3D seul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fusion :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R3D + MLP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R3D + XGBoost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fusion :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R3D + MLP (wt)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R3D + XGB (wt)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93776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Explicabilité — Integrated Gradients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937760" y="1051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ResNet3D + MLP (early fusion)</a:t>
            </a:r>
            <a:endParaRPr lang="en-US" sz="1000" dirty="0"/>
          </a:p>
        </p:txBody>
      </p:sp>
      <p:pic>
        <p:nvPicPr>
          <p:cNvPr id="11" name="Image 0" descr="/Users/tanguyvans/Desktop/umons/alzheimer/experiments/report_multi_seed/interpretability/mlp_early_fusion/AD_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1371600"/>
            <a:ext cx="3931920" cy="1828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37760" y="3246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AD — p(AD) = 0.997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937760" y="35661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activées :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hippocampe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 temporal médial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 connues pour l'atrophie dans Alzheimer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cohérents avec la neuropathologie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Vansnick et al. — ILIA, Université de Mons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multimodale Alzheimer</dc:title>
  <dc:subject>PptxGenJS Presentation</dc:subject>
  <dc:creator>T. Vansnick et al.</dc:creator>
  <cp:lastModifiedBy>T. Vansnick et al.</cp:lastModifiedBy>
  <cp:revision>1</cp:revision>
  <dcterms:created xsi:type="dcterms:W3CDTF">2026-04-11T16:28:26Z</dcterms:created>
  <dcterms:modified xsi:type="dcterms:W3CDTF">2026-04-11T16:28:26Z</dcterms:modified>
</cp:coreProperties>
</file>